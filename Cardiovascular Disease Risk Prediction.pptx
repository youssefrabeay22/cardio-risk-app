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></Relationship>
  <Relationship Id="rId2" Type="http://schemas.openxmlformats.org/package/2006/relationships/metadata/thumbnail" Target="docProps/thumbnail.jpeg"></Relationship>
  <Relationship Id="rId3" Type="http://schemas.openxmlformats.org/package/2006/relationships/metadata/core-properties" Target="docProps/core.xml"></Relationship>
  <Relationship Id="rId4" Type="http://schemas.openxmlformats.org/officeDocument/2006/relationships/extended-properties" Target="docProps/app.xml"></Relationship>
  <Relationship Id="rId5" Type="http://schemas.openxmlformats.org/officeDocument/2006/relationships/custom-properties" Target="docProps/custom.xml"></Relationship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2.png"/><Relationship Id="rId8" Type="http://schemas.openxmlformats.org/officeDocument/2006/relationships/image" Target="../media/image2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5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5847" y="0"/>
            <a:ext cx="6095847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829154" y="1411648"/>
            <a:ext cx="533386" cy="41520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24041" y="2171700"/>
            <a:ext cx="7543611" cy="1428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875"/>
              </a:lnSpc>
              <a:spcBef>
                <a:spcPts val="0"/>
              </a:spcBef>
              <a:spcAft>
                <a:spcPts val="1560"/>
              </a:spcAft>
            </a:pPr>
            <a:r>
              <a:rPr sz="3588" b="1">
                <a:solidFill>
                  <a:srgbClr val="44B54B"/>
                </a:solidFill>
                <a:latin typeface="Source Code Pro"/>
                <a:rFonts ascii="Source Code Pro" hAnsi="Source Code Pro" eastAsia="Source Code Pro" cs="Source Code Pro"/>
              </a:rPr>
              <a:t> Cardiovascular Disease</a:t>
            </a:r>
            <a:r>
              <a:rPr sz="1104"/>
              <a:t>
</a:t>
            </a:r>
            <a:r>
              <a:rPr sz="3588" b="1">
                <a:solidFill>
                  <a:srgbClr val="44B54B"/>
                </a:solidFill>
                <a:latin typeface="Source Code Pro"/>
                <a:rFonts ascii="Source Code Pro" hAnsi="Source Code Pro" eastAsia="Source Code Pro" cs="Source Code Pro"/>
              </a:rPr>
              <a:t>Risk Prediction </a:t>
            </a:r>
          </a:p>
        </p:txBody>
      </p:sp>
      <p:sp>
        <p:nvSpPr>
          <p:cNvPr id="5" name="Rectangle 4"/>
          <p:cNvSpPr/>
          <p:nvPr/>
        </p:nvSpPr>
        <p:spPr>
          <a:xfrm>
            <a:off x="5638659" y="3829050"/>
            <a:ext cx="914377" cy="38100"/>
          </a:xfrm>
          <a:prstGeom prst="rect">
            <a:avLst/>
          </a:prstGeom>
          <a:solidFill>
            <a:srgbClr val="13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24041" y="4171950"/>
            <a:ext cx="754361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3120"/>
              </a:spcAft>
            </a:pPr>
            <a:r>
              <a:rPr sz="1435" b="0">
                <a:solidFill>
                  <a:srgbClr val="333333"/>
                </a:solidFill>
                <a:latin typeface="Roboto Flex"/>
                <a:rFonts ascii="Roboto Flex" hAnsi="Roboto Flex" eastAsia="Roboto Flex" cs="Roboto Flex"/>
              </a:rPr>
              <a:t>Machine Learning for Early 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52896" y="5086350"/>
            <a:ext cx="1895427" cy="419100"/>
          </a:xfrm>
          <a:prstGeom prst="roundRect">
            <a:avLst>
              <a:gd name="adj" fmla="val 4545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52896" y="5086350"/>
            <a:ext cx="1895427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 Presenter: </a:t>
            </a:r>
            <a:r>
              <a:rPr sz="1076" b="1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Youssef</a:t>
            </a: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370513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399FF"/>
                </a:solidFill>
                <a:latin typeface="Source Code Pro"/>
                <a:rFonts ascii="Source Code Pro" hAnsi="Source Code Pro" eastAsia="Source Code Pro" cs="Source Code Pro"/>
              </a:rPr>
              <a:t>Problem Definition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2409825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1399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00079" y="2630090"/>
            <a:ext cx="380990" cy="3214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0159" y="2409825"/>
            <a:ext cx="419089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794" b="1">
                <a:solidFill>
                  <a:srgbClr val="333333"/>
                </a:solidFill>
                <a:latin typeface="Source Code Pro"/>
                <a:rFonts ascii="Source Code Pro" hAnsi="Source Code Pro" eastAsia="Source Code Pro" cs="Source Code Pro"/>
              </a:rPr>
              <a:t>Global Health Crisis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159" y="2867025"/>
            <a:ext cx="4190895" cy="9334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Cardiovascular disease is a leading cause of mortality worldwide, affecting millions of lives annually.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4181474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1399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4401740"/>
            <a:ext cx="380990" cy="3214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00159" y="4181474"/>
            <a:ext cx="419089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780"/>
              </a:spcAft>
            </a:pPr>
            <a:r>
              <a:rPr sz="1794" b="1">
                <a:solidFill>
                  <a:srgbClr val="333333"/>
                </a:solidFill>
                <a:latin typeface="Source Code Pro"/>
                <a:rFonts ascii="Source Code Pro" hAnsi="Source Code Pro" eastAsia="Source Code Pro" cs="Source Code Pro"/>
              </a:rPr>
              <a:t>Early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159" y="4638674"/>
            <a:ext cx="4190895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Saves lives and reduces healthcare costs through timely intervention and preventive care.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639" y="2000250"/>
            <a:ext cx="5181470" cy="3667124"/>
          </a:xfrm>
          <a:prstGeom prst="roundRect">
            <a:avLst>
              <a:gd name="adj" fmla="val 8311"/>
            </a:avLst>
          </a:prstGeom>
          <a:gradFill rotWithShape="1">
            <a:gsLst>
              <a:gs pos="0">
                <a:srgbClr val="1399FF">
                  <a:alpha val="8000"/>
                </a:srgbClr>
              </a:gs>
              <a:gs pos="100000">
                <a:srgbClr val="1399FF">
                  <a:alpha val="3000"/>
                </a:srgbClr>
              </a:gs>
            </a:gsLst>
            <a:lin scaled="0" ang="8100000"/>
          </a:gradFill>
          <a:ln w="16510">
            <a:solidFill>
              <a:srgbClr val="13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800679" y="2454442"/>
            <a:ext cx="457188" cy="34891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00679" y="3228975"/>
            <a:ext cx="438139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1560"/>
              </a:spcAft>
            </a:pPr>
            <a:r>
              <a:rPr sz="1794" b="1">
                <a:solidFill>
                  <a:srgbClr val="1399FF"/>
                </a:solidFill>
                <a:latin typeface="Source Code Pro"/>
                <a:rFonts ascii="Source Code Pro" hAnsi="Source Code Pro" eastAsia="Source Code Pro" cs="Source Code Pro"/>
              </a:rPr>
              <a:t>Our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0679" y="3800475"/>
            <a:ext cx="4381390" cy="7429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33333"/>
                </a:solidFill>
                <a:latin typeface="Roboto Flex"/>
                <a:rFonts ascii="Roboto Flex" hAnsi="Roboto Flex" eastAsia="Roboto Flex" cs="Roboto Flex"/>
              </a:rPr>
              <a:t>Build predictive models to support doctors with faster, data-driven decisions.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00679" y="4848225"/>
            <a:ext cx="1419189" cy="419100"/>
          </a:xfrm>
          <a:prstGeom prst="roundRect">
            <a:avLst>
              <a:gd name="adj" fmla="val 45450000"/>
            </a:avLst>
          </a:prstGeom>
          <a:solidFill>
            <a:srgbClr val="1399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953076" y="4976532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219769" y="4924424"/>
            <a:ext cx="8477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399FF"/>
                </a:solidFill>
                <a:latin typeface="Roboto Flex"/>
                <a:rFonts ascii="Roboto Flex" hAnsi="Roboto Flex" eastAsia="Roboto Flex" cs="Roboto Flex"/>
              </a:rPr>
              <a:t>ML Models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72265" y="4848225"/>
            <a:ext cx="1676358" cy="419100"/>
          </a:xfrm>
          <a:prstGeom prst="roundRect">
            <a:avLst>
              <a:gd name="adj" fmla="val 45450000"/>
            </a:avLst>
          </a:prstGeom>
          <a:solidFill>
            <a:srgbClr val="1399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524661" y="4989138"/>
            <a:ext cx="190495" cy="1372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791355" y="4924424"/>
            <a:ext cx="11048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399FF"/>
                </a:solidFill>
                <a:latin typeface="Roboto Flex"/>
                <a:rFonts ascii="Roboto Flex" hAnsi="Roboto Flex" eastAsia="Roboto Flex" cs="Roboto Flex"/>
              </a:rPr>
              <a:t>Rapid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329556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Dataset Overview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240877"/>
            <a:ext cx="342891" cy="2423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4872" y="1209674"/>
            <a:ext cx="81912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1838324"/>
            <a:ext cx="5333866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Kaggle Cardiovascular Disease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228850"/>
            <a:ext cx="53338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70,000 Records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248243" y="1217229"/>
            <a:ext cx="342891" cy="2896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43531" y="1209674"/>
            <a:ext cx="205734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Target 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243" y="1743075"/>
            <a:ext cx="14001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Binary Outcome: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62680" y="1685925"/>
            <a:ext cx="1104872" cy="380999"/>
          </a:xfrm>
          <a:prstGeom prst="roundRect">
            <a:avLst>
              <a:gd name="adj" fmla="val 40000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62680" y="1685925"/>
            <a:ext cx="110487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1 = Disease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81850" y="1743075"/>
            <a:ext cx="571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53296" y="1685925"/>
            <a:ext cx="1342991" cy="380999"/>
          </a:xfrm>
          <a:prstGeom prst="roundRect">
            <a:avLst>
              <a:gd name="adj" fmla="val 40000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3296" y="1685925"/>
            <a:ext cx="134299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0 = No Disease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2905124"/>
            <a:ext cx="3505112" cy="2171700"/>
          </a:xfrm>
          <a:prstGeom prst="roundRect">
            <a:avLst>
              <a:gd name="adj" fmla="val 10526"/>
            </a:avLst>
          </a:prstGeom>
          <a:solidFill>
            <a:srgbClr val="1284BA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-410226" y="3924934"/>
            <a:ext cx="2171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76278" y="3183006"/>
            <a:ext cx="266693" cy="1681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57268" y="3133724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Demographics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278" y="3552825"/>
            <a:ext cx="3009824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Roboto Flex"/>
                <a:rFonts ascii="Roboto Flex" hAnsi="Roboto Flex" eastAsia="Roboto Flex" cs="Roboto Flex"/>
              </a:rPr>
              <a:t>• 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278" y="3895724"/>
            <a:ext cx="3009824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Roboto Flex"/>
                <a:rFonts ascii="Roboto Flex" hAnsi="Roboto Flex" eastAsia="Roboto Flex" cs="Roboto Flex"/>
              </a:rPr>
              <a:t>• Gender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278" y="4238624"/>
            <a:ext cx="3009824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Roboto Flex"/>
                <a:rFonts ascii="Roboto Flex" hAnsi="Roboto Flex" eastAsia="Roboto Flex" cs="Roboto Flex"/>
              </a:rPr>
              <a:t>• Height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278" y="4581524"/>
            <a:ext cx="3009824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Roboto Flex"/>
                <a:rFonts ascii="Roboto Flex" hAnsi="Roboto Flex" eastAsia="Roboto Flex" cs="Roboto Flex"/>
              </a:rPr>
              <a:t>• Weight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291" y="2905124"/>
            <a:ext cx="3505112" cy="2171700"/>
          </a:xfrm>
          <a:prstGeom prst="roundRect">
            <a:avLst>
              <a:gd name="adj" fmla="val 10526"/>
            </a:avLst>
          </a:prstGeom>
          <a:solidFill>
            <a:srgbClr val="1284BA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3323481" y="3924934"/>
            <a:ext cx="2171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609984" y="3154017"/>
            <a:ext cx="266693" cy="22611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990975" y="3133724"/>
            <a:ext cx="14858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Clinical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9984" y="3552825"/>
            <a:ext cx="3009824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Roboto Flex"/>
                <a:rFonts ascii="Roboto Flex" hAnsi="Roboto Flex" eastAsia="Roboto Flex" cs="Roboto Flex"/>
              </a:rPr>
              <a:t>• Blood Pressure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9984" y="3895724"/>
            <a:ext cx="3009824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Roboto Flex"/>
                <a:rFonts ascii="Roboto Flex" hAnsi="Roboto Flex" eastAsia="Roboto Flex" cs="Roboto Flex"/>
              </a:rPr>
              <a:t>• Cholesterol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9984" y="4238624"/>
            <a:ext cx="3009824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Roboto Flex"/>
                <a:rFonts ascii="Roboto Flex" hAnsi="Roboto Flex" eastAsia="Roboto Flex" cs="Roboto Flex"/>
              </a:rPr>
              <a:t>• Glucose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76998" y="2905124"/>
            <a:ext cx="3505112" cy="2171700"/>
          </a:xfrm>
          <a:prstGeom prst="roundRect">
            <a:avLst>
              <a:gd name="adj" fmla="val 10526"/>
            </a:avLst>
          </a:prstGeom>
          <a:solidFill>
            <a:srgbClr val="1284BA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7057188" y="3924934"/>
            <a:ext cx="2171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343691" y="3156916"/>
            <a:ext cx="266693" cy="22031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724681" y="3133724"/>
            <a:ext cx="102867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Lifestyle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3691" y="3552825"/>
            <a:ext cx="3009824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Roboto Flex"/>
                <a:rFonts ascii="Roboto Flex" hAnsi="Roboto Flex" eastAsia="Roboto Flex" cs="Roboto Flex"/>
              </a:rPr>
              <a:t>• Smoking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3691" y="3895724"/>
            <a:ext cx="3009824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Roboto Flex"/>
                <a:rFonts ascii="Roboto Flex" hAnsi="Roboto Flex" eastAsia="Roboto Flex" cs="Roboto Flex"/>
              </a:rPr>
              <a:t>• Alcohol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43691" y="4238624"/>
            <a:ext cx="3009824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Roboto Flex"/>
                <a:rFonts ascii="Roboto Flex" hAnsi="Roboto Flex" eastAsia="Roboto Flex" cs="Roboto Flex"/>
              </a:rPr>
              <a:t>• Activity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584" y="5372100"/>
            <a:ext cx="10972525" cy="1104900"/>
          </a:xfrm>
          <a:prstGeom prst="roundRect">
            <a:avLst>
              <a:gd name="adj" fmla="val 20689"/>
            </a:avLst>
          </a:prstGeom>
          <a:solidFill>
            <a:srgbClr val="FF862F">
              <a:alpha val="8000"/>
            </a:srgbClr>
          </a:soli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57228" y="5649057"/>
            <a:ext cx="304792" cy="24618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314417" y="5619750"/>
            <a:ext cx="100200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862F"/>
                </a:solidFill>
                <a:latin typeface="Source Code Pro"/>
                <a:rFonts ascii="Source Code Pro" hAnsi="Source Code Pro" eastAsia="Source Code Pro" cs="Source Code Pro"/>
              </a:rPr>
              <a:t>Challenge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14417" y="5962650"/>
            <a:ext cx="1002004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Roboto Flex"/>
                <a:rFonts ascii="Roboto Flex" hAnsi="Roboto Flex" eastAsia="Roboto Flex" cs="Roboto Flex"/>
              </a:rPr>
              <a:t>Raw dataset with duplicates and inconsistencies → requires extensive cleaning and preprocessing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2057348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190625"/>
            <a:ext cx="5333866" cy="2571750"/>
          </a:xfrm>
          <a:prstGeom prst="roundRect">
            <a:avLst>
              <a:gd name="adj" fmla="val 8888"/>
            </a:avLst>
          </a:prstGeom>
          <a:gradFill rotWithShape="1">
            <a:gsLst>
              <a:gs pos="0">
                <a:srgbClr val="1284BA">
                  <a:alpha val="8000"/>
                </a:srgbClr>
              </a:gs>
              <a:gs pos="100000">
                <a:srgbClr val="1284BA">
                  <a:alpha val="3000"/>
                </a:srgbClr>
              </a:gs>
            </a:gsLst>
            <a:lin scaled="0" ang="8100000"/>
          </a:gra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3426" y="1514475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773" y="1647825"/>
            <a:ext cx="342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01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162420" y="1550569"/>
            <a:ext cx="457188" cy="38501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3426" y="2276474"/>
            <a:ext cx="468618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Build Predictive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26" y="2695575"/>
            <a:ext cx="4686182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Develop a robust machine learning model to classify cardiovascular disease risk with high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243" y="1190625"/>
            <a:ext cx="5333866" cy="2571750"/>
          </a:xfrm>
          <a:prstGeom prst="roundRect">
            <a:avLst>
              <a:gd name="adj" fmla="val 8888"/>
            </a:avLst>
          </a:prstGeom>
          <a:gradFill rotWithShape="1">
            <a:gsLst>
              <a:gs pos="0">
                <a:srgbClr val="1284BA">
                  <a:alpha val="8000"/>
                </a:srgbClr>
              </a:gs>
              <a:gs pos="100000">
                <a:srgbClr val="1284BA">
                  <a:alpha val="3000"/>
                </a:srgbClr>
              </a:gs>
            </a:gsLst>
            <a:lin scaled="0" ang="8100000"/>
          </a:gra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72085" y="1514475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5432" y="1647825"/>
            <a:ext cx="342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02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801079" y="1604711"/>
            <a:ext cx="457188" cy="27672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72085" y="2276474"/>
            <a:ext cx="468618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Compare Algorithms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085" y="2695575"/>
            <a:ext cx="4686182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Evaluate multiple algorithms including Logistic Regression, Random Forest, and Gradient Boosting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4067174"/>
            <a:ext cx="5333866" cy="2571750"/>
          </a:xfrm>
          <a:prstGeom prst="roundRect">
            <a:avLst>
              <a:gd name="adj" fmla="val 8888"/>
            </a:avLst>
          </a:prstGeom>
          <a:gradFill rotWithShape="1">
            <a:gsLst>
              <a:gs pos="0">
                <a:srgbClr val="1284BA">
                  <a:alpha val="8000"/>
                </a:srgbClr>
              </a:gs>
              <a:gs pos="100000">
                <a:srgbClr val="1284BA">
                  <a:alpha val="3000"/>
                </a:srgbClr>
              </a:gs>
            </a:gsLst>
            <a:lin scaled="0" ang="8100000"/>
          </a:gra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3426" y="4391025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773" y="4524374"/>
            <a:ext cx="342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03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162420" y="4460206"/>
            <a:ext cx="457188" cy="31883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3426" y="5153024"/>
            <a:ext cx="468618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Deploy Web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3426" y="5572125"/>
            <a:ext cx="4686182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Build and deploy a user-friendly Streamlit web application for real-time risk prediction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8243" y="4067174"/>
            <a:ext cx="5333866" cy="2571750"/>
          </a:xfrm>
          <a:prstGeom prst="roundRect">
            <a:avLst>
              <a:gd name="adj" fmla="val 8888"/>
            </a:avLst>
          </a:prstGeom>
          <a:gradFill rotWithShape="1">
            <a:gsLst>
              <a:gs pos="0">
                <a:srgbClr val="1284BA">
                  <a:alpha val="8000"/>
                </a:srgbClr>
              </a:gs>
              <a:gs pos="100000">
                <a:srgbClr val="1284BA">
                  <a:alpha val="3000"/>
                </a:srgbClr>
              </a:gs>
            </a:gsLst>
            <a:lin scaled="0" ang="8100000"/>
          </a:gra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72085" y="4391025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5432" y="4524374"/>
            <a:ext cx="342891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04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801079" y="4427119"/>
            <a:ext cx="457188" cy="38501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72085" y="5153024"/>
            <a:ext cx="468618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78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Document 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2085" y="5572125"/>
            <a:ext cx="4686182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Document comprehensive preprocessing steps, feature engineering, and evaluation metrics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3295567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Data Exploration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225794"/>
            <a:ext cx="304792" cy="23446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8674" y="1190625"/>
            <a:ext cx="260978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Data Quality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1647825"/>
            <a:ext cx="5333866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• Checked dataset size and column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1990724"/>
            <a:ext cx="5333866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• </a:t>
            </a:r>
            <a:r>
              <a:rPr sz="1196" b="1">
                <a:solidFill>
                  <a:srgbClr val="FF862F"/>
                </a:solidFill>
                <a:latin typeface="Roboto Flex"/>
                <a:rFonts ascii="Roboto Flex" hAnsi="Roboto Flex" eastAsia="Roboto Flex" cs="Roboto Flex"/>
              </a:rPr>
              <a:t>No missing values</a:t>
            </a: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 detected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248243" y="1219932"/>
            <a:ext cx="304792" cy="246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333" y="1190625"/>
            <a:ext cx="23335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Issues Identified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243" y="1647825"/>
            <a:ext cx="5333866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• Duplicates found in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243" y="1990724"/>
            <a:ext cx="5333866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• Unrealistic values detected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243" y="2333624"/>
            <a:ext cx="5333866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• Required data cleaning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3162299"/>
            <a:ext cx="5333866" cy="1828800"/>
          </a:xfrm>
          <a:prstGeom prst="roundRect">
            <a:avLst>
              <a:gd name="adj" fmla="val 12500"/>
            </a:avLst>
          </a:prstGeom>
          <a:solidFill>
            <a:srgbClr val="1284BA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-238776" y="4010659"/>
            <a:ext cx="1828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76278" y="3445979"/>
            <a:ext cx="266693" cy="1565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57268" y="3390899"/>
            <a:ext cx="2400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Distribution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278" y="3809999"/>
            <a:ext cx="23621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Roboto Flex"/>
                <a:rFonts ascii="Roboto Flex" hAnsi="Roboto Flex" eastAsia="Roboto Flex" cs="Roboto Flex"/>
              </a:rPr>
              <a:t>• Age 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2716" y="3809999"/>
            <a:ext cx="23621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Roboto Flex"/>
                <a:rFonts ascii="Roboto Flex" hAnsi="Roboto Flex" eastAsia="Roboto Flex" cs="Roboto Flex"/>
              </a:rPr>
              <a:t>• Cholesterol levels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278" y="4190999"/>
            <a:ext cx="23621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Roboto Flex"/>
                <a:rFonts ascii="Roboto Flex" hAnsi="Roboto Flex" eastAsia="Roboto Flex" cs="Roboto Flex"/>
              </a:rPr>
              <a:t>• Glucose values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2716" y="4190999"/>
            <a:ext cx="236214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Roboto Flex"/>
                <a:rFonts ascii="Roboto Flex" hAnsi="Roboto Flex" eastAsia="Roboto Flex" cs="Roboto Flex"/>
              </a:rPr>
              <a:t>• Blood pressure ranges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8243" y="3162299"/>
            <a:ext cx="5333866" cy="1828800"/>
          </a:xfrm>
          <a:prstGeom prst="roundRect">
            <a:avLst>
              <a:gd name="adj" fmla="val 12500"/>
            </a:avLst>
          </a:prstGeom>
          <a:solidFill>
            <a:srgbClr val="1284BA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5399883" y="4010659"/>
            <a:ext cx="1828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14937" y="3395248"/>
            <a:ext cx="266693" cy="25800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895927" y="3390899"/>
            <a:ext cx="2400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Correlation &amp; Balance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4937" y="3809999"/>
            <a:ext cx="483857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Roboto Flex"/>
                <a:rFonts ascii="Roboto Flex" hAnsi="Roboto Flex" eastAsia="Roboto Flex" cs="Roboto Flex"/>
              </a:rPr>
              <a:t>• Analyzed feature correlations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4937" y="4152899"/>
            <a:ext cx="483857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Roboto Flex"/>
                <a:rFonts ascii="Roboto Flex" hAnsi="Roboto Flex" eastAsia="Roboto Flex" cs="Roboto Flex"/>
              </a:rPr>
              <a:t>• Assessed class balance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4937" y="4495799"/>
            <a:ext cx="4838579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Roboto Flex"/>
                <a:rFonts ascii="Roboto Flex" hAnsi="Roboto Flex" eastAsia="Roboto Flex" cs="Roboto Flex"/>
              </a:rPr>
              <a:t>• Identified potential biases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584" y="5562600"/>
            <a:ext cx="10972525" cy="914400"/>
          </a:xfrm>
          <a:prstGeom prst="roundRect">
            <a:avLst>
              <a:gd name="adj" fmla="val 25000"/>
            </a:avLst>
          </a:prstGeom>
          <a:gradFill rotWithShape="1">
            <a:gsLst>
              <a:gs pos="0">
                <a:srgbClr val="1284BA">
                  <a:alpha val="10000"/>
                </a:srgbClr>
              </a:gs>
              <a:gs pos="100000">
                <a:srgbClr val="1284BA">
                  <a:alpha val="5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0079" y="5874954"/>
            <a:ext cx="342891" cy="28969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95367" y="5753099"/>
            <a:ext cx="49243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Key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5367" y="6019800"/>
            <a:ext cx="49243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Roboto Flex"/>
                <a:rFonts ascii="Roboto Flex" hAnsi="Roboto Flex" eastAsia="Roboto Flex" cs="Roboto Flex"/>
              </a:rPr>
              <a:t>Dataset ready for preprocessing after thorough exploration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7200719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Preprocessing &amp; Feature Engineering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114425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723881" y="1260157"/>
            <a:ext cx="228594" cy="1657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1070" y="1114425"/>
            <a:ext cx="47623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Data Cleaning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1070" y="1419225"/>
            <a:ext cx="47623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Removed duplicates and invalid values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1838324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23881" y="1978342"/>
            <a:ext cx="228594" cy="1771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1070" y="1838324"/>
            <a:ext cx="47623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Age Conversion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070" y="2143125"/>
            <a:ext cx="47623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Transformed from days to years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243" y="1114425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362540" y="1280160"/>
            <a:ext cx="228594" cy="1257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19729" y="1114425"/>
            <a:ext cx="47623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Encoding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9729" y="1419225"/>
            <a:ext cx="47623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One-hot encoded categorical variables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8243" y="1838324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62540" y="1978342"/>
            <a:ext cx="228594" cy="1771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819729" y="1838324"/>
            <a:ext cx="47623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Standardization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9729" y="2143125"/>
            <a:ext cx="47623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Scaled numerical features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" y="3257550"/>
            <a:ext cx="5333866" cy="1714500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1284BA">
                  <a:alpha val="8000"/>
                </a:srgbClr>
              </a:gs>
              <a:gs pos="100000">
                <a:srgbClr val="1284BA">
                  <a:alpha val="3000"/>
                </a:srgbClr>
              </a:gs>
            </a:gsLst>
            <a:lin scaled="0" ang="8100000"/>
          </a:gra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7228" y="3600450"/>
            <a:ext cx="22287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Initial Dataset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228" y="3943350"/>
            <a:ext cx="2228794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666666"/>
                </a:solidFill>
                <a:latin typeface="Source Code Pro"/>
                <a:rFonts ascii="Source Code Pro" hAnsi="Source Code Pro" eastAsia="Source Code Pro" cs="Source Code Pro"/>
              </a:rPr>
              <a:t>70,000 records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30000"/>
          </a:blip>
          <a:stretch>
            <a:fillRect/>
          </a:stretch>
        </p:blipFill>
        <p:spPr>
          <a:xfrm>
            <a:off x="3086022" y="3980854"/>
            <a:ext cx="380990" cy="26789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467013" y="3600450"/>
            <a:ext cx="22287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After Cleaning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67013" y="3943350"/>
            <a:ext cx="2228794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68,000 records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8243" y="3257550"/>
            <a:ext cx="5333866" cy="1714500"/>
          </a:xfrm>
          <a:prstGeom prst="roundRect">
            <a:avLst>
              <a:gd name="adj" fmla="val 13333"/>
            </a:avLst>
          </a:prstGeom>
          <a:gradFill rotWithShape="1">
            <a:gsLst>
              <a:gs pos="0">
                <a:srgbClr val="1284BA">
                  <a:alpha val="8000"/>
                </a:srgbClr>
              </a:gs>
              <a:gs pos="100000">
                <a:srgbClr val="1284BA">
                  <a:alpha val="3000"/>
                </a:srgbClr>
              </a:gs>
            </a:gsLst>
            <a:lin scaled="0" ang="8100000"/>
          </a:gra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495887" y="3627054"/>
            <a:ext cx="342891" cy="28969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91175" y="3619499"/>
            <a:ext cx="164778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Ready for 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5887" y="4095749"/>
            <a:ext cx="483857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Dataset fully preprocessed and optimized for machine learning models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584" y="5829300"/>
            <a:ext cx="10972525" cy="723900"/>
          </a:xfrm>
          <a:prstGeom prst="roundRect">
            <a:avLst>
              <a:gd name="adj" fmla="val 31578"/>
            </a:avLst>
          </a:prstGeom>
          <a:solidFill>
            <a:srgbClr val="FF862F">
              <a:alpha val="8000"/>
            </a:srgbClr>
          </a:soli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19129" y="6062296"/>
            <a:ext cx="304792" cy="25790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76318" y="6057900"/>
            <a:ext cx="60863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555555"/>
                </a:solidFill>
                <a:latin typeface="Roboto Flex"/>
                <a:rFonts ascii="Roboto Flex" hAnsi="Roboto Flex" eastAsia="Roboto Flex" cs="Roboto Flex"/>
              </a:rPr>
              <a:t>All preprocessing steps documented and reproducible for future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2876478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Model Building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28954" y="1190625"/>
            <a:ext cx="914377" cy="914400"/>
          </a:xfrm>
          <a:prstGeom prst="roundRect">
            <a:avLst>
              <a:gd name="adj" fmla="val 20831250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057548" y="1488406"/>
            <a:ext cx="457188" cy="3188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28954" y="2219324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Train/Test Split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28954" y="2524125"/>
            <a:ext cx="182875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862F"/>
                </a:solidFill>
                <a:latin typeface="Roboto Flex"/>
                <a:rFonts ascii="Roboto Flex" hAnsi="Roboto Flex" eastAsia="Roboto Flex" cs="Roboto Flex"/>
              </a:rPr>
              <a:t>80/20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886302" y="2009774"/>
            <a:ext cx="761980" cy="38100"/>
          </a:xfrm>
          <a:prstGeom prst="rect">
            <a:avLst/>
          </a:prstGeom>
          <a:solidFill>
            <a:srgbClr val="1284B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76878" y="1190625"/>
            <a:ext cx="914377" cy="914400"/>
          </a:xfrm>
          <a:prstGeom prst="roundRect">
            <a:avLst>
              <a:gd name="adj" fmla="val 20831250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105472" y="1453815"/>
            <a:ext cx="457188" cy="38801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76878" y="2219324"/>
            <a:ext cx="14858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Total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878" y="2524125"/>
            <a:ext cx="1485862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~68,000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" y="3248024"/>
            <a:ext cx="3457488" cy="3619499"/>
          </a:xfrm>
          <a:prstGeom prst="roundRect">
            <a:avLst>
              <a:gd name="adj" fmla="val 6611"/>
            </a:avLst>
          </a:prstGeom>
          <a:gradFill rotWithShape="1">
            <a:gsLst>
              <a:gs pos="0">
                <a:srgbClr val="1284BA">
                  <a:alpha val="8000"/>
                </a:srgbClr>
              </a:gs>
              <a:gs pos="100000">
                <a:srgbClr val="1284BA">
                  <a:alpha val="3000"/>
                </a:srgbClr>
              </a:gs>
            </a:gsLst>
            <a:lin scaled="0" ang="8100000"/>
          </a:gra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52576" y="3571875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143071" y="3812976"/>
            <a:ext cx="380990" cy="2797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3426" y="4562475"/>
            <a:ext cx="280980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104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Logistic Regression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26" y="5038724"/>
            <a:ext cx="2809804" cy="419100"/>
          </a:xfrm>
          <a:prstGeom prst="roundRect">
            <a:avLst>
              <a:gd name="adj" fmla="val 36363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426" y="5038724"/>
            <a:ext cx="2809804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Baseline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26" y="5572125"/>
            <a:ext cx="2809804" cy="419100"/>
          </a:xfrm>
          <a:prstGeom prst="roundRect">
            <a:avLst>
              <a:gd name="adj" fmla="val 36363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26" y="5572125"/>
            <a:ext cx="2809804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Simple &amp; Interpretable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426" y="6105525"/>
            <a:ext cx="2809804" cy="419100"/>
          </a:xfrm>
          <a:prstGeom prst="roundRect">
            <a:avLst>
              <a:gd name="adj" fmla="val 36363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426" y="6105525"/>
            <a:ext cx="2809804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Linear Decision Boundary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1865" y="3248024"/>
            <a:ext cx="3457488" cy="3619499"/>
          </a:xfrm>
          <a:prstGeom prst="roundRect">
            <a:avLst>
              <a:gd name="adj" fmla="val 6611"/>
            </a:avLst>
          </a:prstGeom>
          <a:gradFill rotWithShape="1">
            <a:gsLst>
              <a:gs pos="0">
                <a:srgbClr val="1284BA">
                  <a:alpha val="8000"/>
                </a:srgbClr>
              </a:gs>
              <a:gs pos="100000">
                <a:srgbClr val="1284BA">
                  <a:alpha val="3000"/>
                </a:srgbClr>
              </a:gs>
            </a:gsLst>
            <a:lin scaled="0" ang="8100000"/>
          </a:gra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14857" y="3571875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905352" y="3792140"/>
            <a:ext cx="380990" cy="3214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95707" y="4562475"/>
            <a:ext cx="280980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104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Random Forest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95707" y="5038724"/>
            <a:ext cx="2809804" cy="419100"/>
          </a:xfrm>
          <a:prstGeom prst="roundRect">
            <a:avLst>
              <a:gd name="adj" fmla="val 36363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95707" y="5038724"/>
            <a:ext cx="2809804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Ensemble Learner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95707" y="5572125"/>
            <a:ext cx="2809804" cy="419100"/>
          </a:xfrm>
          <a:prstGeom prst="roundRect">
            <a:avLst>
              <a:gd name="adj" fmla="val 36363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5707" y="5572125"/>
            <a:ext cx="2809804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Multiple Decision Trees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95707" y="6105525"/>
            <a:ext cx="2809804" cy="419100"/>
          </a:xfrm>
          <a:prstGeom prst="roundRect">
            <a:avLst>
              <a:gd name="adj" fmla="val 36363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95707" y="6105525"/>
            <a:ext cx="2809804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Reduces Overfitting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24621" y="3248024"/>
            <a:ext cx="3457488" cy="3619499"/>
          </a:xfrm>
          <a:prstGeom prst="roundRect">
            <a:avLst>
              <a:gd name="adj" fmla="val 6611"/>
            </a:avLst>
          </a:prstGeom>
          <a:gradFill rotWithShape="1">
            <a:gsLst>
              <a:gs pos="0">
                <a:srgbClr val="1284BA">
                  <a:alpha val="8000"/>
                </a:srgbClr>
              </a:gs>
              <a:gs pos="100000">
                <a:srgbClr val="1284BA">
                  <a:alpha val="3000"/>
                </a:srgbClr>
              </a:gs>
            </a:gsLst>
            <a:lin scaled="0" ang="8100000"/>
          </a:gra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477138" y="3571875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667633" y="3851671"/>
            <a:ext cx="380990" cy="20240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448463" y="4562475"/>
            <a:ext cx="280980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104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Gradient Boosting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48463" y="5038724"/>
            <a:ext cx="2809804" cy="419100"/>
          </a:xfrm>
          <a:prstGeom prst="roundRect">
            <a:avLst>
              <a:gd name="adj" fmla="val 36363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48463" y="5038724"/>
            <a:ext cx="2809804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Boosting Method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48463" y="5572125"/>
            <a:ext cx="2809804" cy="419100"/>
          </a:xfrm>
          <a:prstGeom prst="roundRect">
            <a:avLst>
              <a:gd name="adj" fmla="val 36363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48463" y="5572125"/>
            <a:ext cx="2809804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Sequential Training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48463" y="6105525"/>
            <a:ext cx="2809804" cy="419100"/>
          </a:xfrm>
          <a:prstGeom prst="roundRect">
            <a:avLst>
              <a:gd name="adj" fmla="val 36363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48463" y="6105525"/>
            <a:ext cx="2809804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Optimized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576248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Model Performance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257300"/>
            <a:ext cx="3457488" cy="4286250"/>
          </a:xfrm>
          <a:prstGeom prst="roundRect">
            <a:avLst>
              <a:gd name="adj" fmla="val 6611"/>
            </a:avLst>
          </a:prstGeom>
          <a:gradFill rotWithShape="1">
            <a:gsLst>
              <a:gs pos="0">
                <a:srgbClr val="1284BA">
                  <a:alpha val="8000"/>
                </a:srgbClr>
              </a:gs>
              <a:gs pos="100000">
                <a:srgbClr val="1284BA">
                  <a:alpha val="3000"/>
                </a:srgbClr>
              </a:gs>
            </a:gsLst>
            <a:lin scaled="0" ang="8100000"/>
          </a:gra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7228" y="150495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09624" y="1696915"/>
            <a:ext cx="304792" cy="2256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81110" y="1581149"/>
            <a:ext cx="9143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Logistic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1110" y="1847849"/>
            <a:ext cx="9143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Regression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7228" y="2305049"/>
            <a:ext cx="2962200" cy="533399"/>
          </a:xfrm>
          <a:prstGeom prst="roundRect">
            <a:avLst>
              <a:gd name="adj" fmla="val 28571"/>
            </a:avLst>
          </a:prstGeom>
          <a:solidFill>
            <a:srgbClr val="1284B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9624" y="2438400"/>
            <a:ext cx="6953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1250" y="2419349"/>
            <a:ext cx="68578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72.4%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28" y="2990849"/>
            <a:ext cx="2962200" cy="533399"/>
          </a:xfrm>
          <a:prstGeom prst="roundRect">
            <a:avLst>
              <a:gd name="adj" fmla="val 28571"/>
            </a:avLst>
          </a:prstGeom>
          <a:solidFill>
            <a:srgbClr val="1284B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9624" y="3124200"/>
            <a:ext cx="6953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1250" y="3105149"/>
            <a:ext cx="68578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74.9%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28" y="3676649"/>
            <a:ext cx="2962200" cy="533399"/>
          </a:xfrm>
          <a:prstGeom prst="roundRect">
            <a:avLst>
              <a:gd name="adj" fmla="val 28571"/>
            </a:avLst>
          </a:prstGeom>
          <a:solidFill>
            <a:srgbClr val="1284B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9624" y="3809999"/>
            <a:ext cx="4571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1250" y="3790949"/>
            <a:ext cx="68578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66.5%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7228" y="4362450"/>
            <a:ext cx="2962200" cy="533399"/>
          </a:xfrm>
          <a:prstGeom prst="roundRect">
            <a:avLst>
              <a:gd name="adj" fmla="val 28571"/>
            </a:avLst>
          </a:prstGeom>
          <a:solidFill>
            <a:srgbClr val="1284B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9624" y="4495799"/>
            <a:ext cx="6667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F1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1250" y="4476750"/>
            <a:ext cx="68578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70.5%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228" y="5048250"/>
            <a:ext cx="2962200" cy="380999"/>
          </a:xfrm>
          <a:prstGeom prst="roundRect">
            <a:avLst>
              <a:gd name="adj" fmla="val 40000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7228" y="5048250"/>
            <a:ext cx="296220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Baseline Model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1865" y="1257300"/>
            <a:ext cx="3457488" cy="4286250"/>
          </a:xfrm>
          <a:prstGeom prst="roundRect">
            <a:avLst>
              <a:gd name="adj" fmla="val 6611"/>
            </a:avLst>
          </a:prstGeom>
          <a:gradFill rotWithShape="1">
            <a:gsLst>
              <a:gs pos="0">
                <a:srgbClr val="1284BA">
                  <a:alpha val="8000"/>
                </a:srgbClr>
              </a:gs>
              <a:gs pos="100000">
                <a:srgbClr val="1284BA">
                  <a:alpha val="3000"/>
                </a:srgbClr>
              </a:gs>
            </a:gsLst>
            <a:lin scaled="0" ang="8100000"/>
          </a:gra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19509" y="150495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771905" y="1680796"/>
            <a:ext cx="304792" cy="2579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343391" y="1581149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Random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3391" y="1847849"/>
            <a:ext cx="6857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Forest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19509" y="2305049"/>
            <a:ext cx="2962200" cy="533399"/>
          </a:xfrm>
          <a:prstGeom prst="roundRect">
            <a:avLst>
              <a:gd name="adj" fmla="val 28571"/>
            </a:avLst>
          </a:prstGeom>
          <a:solidFill>
            <a:srgbClr val="1284B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71905" y="2438400"/>
            <a:ext cx="6953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4006" y="2419349"/>
            <a:ext cx="68578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72.1%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19509" y="2990849"/>
            <a:ext cx="2962200" cy="533399"/>
          </a:xfrm>
          <a:prstGeom prst="roundRect">
            <a:avLst>
              <a:gd name="adj" fmla="val 28571"/>
            </a:avLst>
          </a:prstGeom>
          <a:solidFill>
            <a:srgbClr val="1284B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71905" y="3124200"/>
            <a:ext cx="6953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Precision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4006" y="3105149"/>
            <a:ext cx="68578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72.6%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19509" y="3676649"/>
            <a:ext cx="2962200" cy="533399"/>
          </a:xfrm>
          <a:prstGeom prst="roundRect">
            <a:avLst>
              <a:gd name="adj" fmla="val 28571"/>
            </a:avLst>
          </a:prstGeom>
          <a:solidFill>
            <a:srgbClr val="1284B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71905" y="3809999"/>
            <a:ext cx="4571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Recall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4006" y="3790949"/>
            <a:ext cx="68578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70.3%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19509" y="4362450"/>
            <a:ext cx="2962200" cy="533399"/>
          </a:xfrm>
          <a:prstGeom prst="roundRect">
            <a:avLst>
              <a:gd name="adj" fmla="val 28571"/>
            </a:avLst>
          </a:prstGeom>
          <a:solidFill>
            <a:srgbClr val="1284B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71905" y="4495799"/>
            <a:ext cx="6667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F1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4006" y="4476750"/>
            <a:ext cx="68578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71.4%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619509" y="5048250"/>
            <a:ext cx="2962200" cy="380999"/>
          </a:xfrm>
          <a:prstGeom prst="roundRect">
            <a:avLst>
              <a:gd name="adj" fmla="val 40000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9509" y="5048250"/>
            <a:ext cx="2962200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Ensemble Learner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24621" y="1257300"/>
            <a:ext cx="3457488" cy="4286250"/>
          </a:xfrm>
          <a:prstGeom prst="roundRect">
            <a:avLst>
              <a:gd name="adj" fmla="val 6611"/>
            </a:avLst>
          </a:prstGeom>
          <a:gradFill rotWithShape="1">
            <a:gsLst>
              <a:gs pos="0">
                <a:srgbClr val="FF862F">
                  <a:alpha val="10000"/>
                </a:srgbClr>
              </a:gs>
              <a:gs pos="100000">
                <a:srgbClr val="FF862F">
                  <a:alpha val="5000"/>
                </a:srgbClr>
              </a:gs>
            </a:gsLst>
            <a:lin scaled="0" ang="8100000"/>
          </a:gradFill>
          <a:ln w="24765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839179" y="1428750"/>
            <a:ext cx="561960" cy="266699"/>
          </a:xfrm>
          <a:prstGeom prst="roundRect">
            <a:avLst>
              <a:gd name="adj" fmla="val 71421428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839179" y="1428750"/>
            <a:ext cx="5619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BEST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81790" y="150495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534186" y="1727688"/>
            <a:ext cx="304792" cy="16412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105672" y="1581149"/>
            <a:ext cx="9143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862F"/>
                </a:solidFill>
                <a:latin typeface="Source Code Pro"/>
                <a:rFonts ascii="Source Code Pro" hAnsi="Source Code Pro" eastAsia="Source Code Pro" cs="Source Code Pro"/>
              </a:rPr>
              <a:t>Gradient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05672" y="1847849"/>
            <a:ext cx="9143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Boosting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81790" y="2305049"/>
            <a:ext cx="2943151" cy="533399"/>
          </a:xfrm>
          <a:prstGeom prst="roundRect">
            <a:avLst>
              <a:gd name="adj" fmla="val 28571"/>
            </a:avLst>
          </a:prstGeom>
          <a:solidFill>
            <a:srgbClr val="FF862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34186" y="2438400"/>
            <a:ext cx="6953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Accuracy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86762" y="2419349"/>
            <a:ext cx="68578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862F"/>
                </a:solidFill>
                <a:latin typeface="Source Code Pro"/>
                <a:rFonts ascii="Source Code Pro" hAnsi="Source Code Pro" eastAsia="Source Code Pro" cs="Source Code Pro"/>
              </a:rPr>
              <a:t>73.1%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81790" y="2990849"/>
            <a:ext cx="2943151" cy="533399"/>
          </a:xfrm>
          <a:prstGeom prst="roundRect">
            <a:avLst>
              <a:gd name="adj" fmla="val 28571"/>
            </a:avLst>
          </a:prstGeom>
          <a:solidFill>
            <a:srgbClr val="FF862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34186" y="3124200"/>
            <a:ext cx="6953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Precision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86762" y="3105149"/>
            <a:ext cx="68578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862F"/>
                </a:solidFill>
                <a:latin typeface="Source Code Pro"/>
                <a:rFonts ascii="Source Code Pro" hAnsi="Source Code Pro" eastAsia="Source Code Pro" cs="Source Code Pro"/>
              </a:rPr>
              <a:t>74.6%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81790" y="3676649"/>
            <a:ext cx="2943151" cy="533399"/>
          </a:xfrm>
          <a:prstGeom prst="roundRect">
            <a:avLst>
              <a:gd name="adj" fmla="val 28571"/>
            </a:avLst>
          </a:prstGeom>
          <a:solidFill>
            <a:srgbClr val="FF862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34186" y="3809999"/>
            <a:ext cx="45718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Recall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86762" y="3790949"/>
            <a:ext cx="68578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862F"/>
                </a:solidFill>
                <a:latin typeface="Source Code Pro"/>
                <a:rFonts ascii="Source Code Pro" hAnsi="Source Code Pro" eastAsia="Source Code Pro" cs="Source Code Pro"/>
              </a:rPr>
              <a:t>69.2%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381790" y="4362450"/>
            <a:ext cx="2943151" cy="533399"/>
          </a:xfrm>
          <a:prstGeom prst="roundRect">
            <a:avLst>
              <a:gd name="adj" fmla="val 28571"/>
            </a:avLst>
          </a:prstGeom>
          <a:solidFill>
            <a:srgbClr val="FF862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34186" y="4495799"/>
            <a:ext cx="6667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F1 Score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86762" y="4476750"/>
            <a:ext cx="68578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862F"/>
                </a:solidFill>
                <a:latin typeface="Source Code Pro"/>
                <a:rFonts ascii="Source Code Pro" hAnsi="Source Code Pro" eastAsia="Source Code Pro" cs="Source Code Pro"/>
              </a:rPr>
              <a:t>71.8%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381790" y="5048250"/>
            <a:ext cx="2943151" cy="380999"/>
          </a:xfrm>
          <a:prstGeom prst="roundRect">
            <a:avLst>
              <a:gd name="adj" fmla="val 40000"/>
            </a:avLst>
          </a:prstGeom>
          <a:solidFill>
            <a:srgbClr val="FF862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81790" y="5048250"/>
            <a:ext cx="294315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1040"/>
              </a:spcBef>
              <a:spcAft>
                <a:spcPts val="0"/>
              </a:spcAft>
            </a:pPr>
            <a:r>
              <a:rPr sz="956" b="0">
                <a:solidFill>
                  <a:srgbClr val="FF862F"/>
                </a:solidFill>
                <a:latin typeface="Roboto Flex"/>
                <a:rFonts ascii="Roboto Flex" hAnsi="Roboto Flex" eastAsia="Roboto Flex" cs="Roboto Flex"/>
              </a:rPr>
              <a:t>Boosting Method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9584" y="5848350"/>
            <a:ext cx="10972525" cy="571500"/>
          </a:xfrm>
          <a:prstGeom prst="roundRect">
            <a:avLst>
              <a:gd name="adj" fmla="val 26666"/>
            </a:avLst>
          </a:prstGeom>
          <a:solidFill>
            <a:srgbClr val="1284BA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61980" y="6036945"/>
            <a:ext cx="228594" cy="194309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104872" y="6000750"/>
            <a:ext cx="47909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All models evaluated using identical test set for fair comparison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432424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Hyperparameter Tuning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1217229"/>
            <a:ext cx="342891" cy="2896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66773" y="1209674"/>
            <a:ext cx="260978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Optimization Method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584" y="1685925"/>
            <a:ext cx="5295767" cy="571500"/>
          </a:xfrm>
          <a:prstGeom prst="roundRect">
            <a:avLst>
              <a:gd name="adj" fmla="val 26666"/>
            </a:avLst>
          </a:prstGeom>
          <a:solidFill>
            <a:srgbClr val="1284B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584" y="1685925"/>
            <a:ext cx="529576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RandomizedSearchCV for Gradient Boosting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2486025"/>
            <a:ext cx="5295767" cy="4572000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1284BA">
                  <a:alpha val="8000"/>
                </a:srgbClr>
              </a:gs>
              <a:gs pos="100000">
                <a:srgbClr val="1284BA">
                  <a:alpha val="3000"/>
                </a:srgbClr>
              </a:gs>
            </a:gsLst>
            <a:lin scaled="0" ang="8100000"/>
          </a:gra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57228" y="2762664"/>
            <a:ext cx="266693" cy="2087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38219" y="2733674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Best Parameters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28" y="3190874"/>
            <a:ext cx="4800479" cy="533399"/>
          </a:xfrm>
          <a:prstGeom prst="roundRect">
            <a:avLst>
              <a:gd name="adj" fmla="val 28571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7723" y="3324225"/>
            <a:ext cx="9905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n_estimators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7648" y="3305174"/>
            <a:ext cx="40956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Courier New"/>
                <a:rFonts ascii="Courier New" hAnsi="Courier New" eastAsia="Courier New" cs="Courier New"/>
              </a:rPr>
              <a:t>200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28" y="3838574"/>
            <a:ext cx="4800479" cy="533399"/>
          </a:xfrm>
          <a:prstGeom prst="roundRect">
            <a:avLst>
              <a:gd name="adj" fmla="val 28571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23" y="3971925"/>
            <a:ext cx="8477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max_depth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3866" y="3952874"/>
            <a:ext cx="13334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Courier New"/>
                <a:rFonts ascii="Courier New" hAnsi="Courier New" eastAsia="Courier New" cs="Courier New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7228" y="4486275"/>
            <a:ext cx="4800479" cy="533399"/>
          </a:xfrm>
          <a:prstGeom prst="roundRect">
            <a:avLst>
              <a:gd name="adj" fmla="val 28571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7723" y="4619625"/>
            <a:ext cx="9905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learning_rate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7648" y="4600575"/>
            <a:ext cx="40956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Courier New"/>
                <a:rFonts ascii="Courier New" hAnsi="Courier New" eastAsia="Courier New" cs="Courier New"/>
              </a:rPr>
              <a:t>0.1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7228" y="5133975"/>
            <a:ext cx="4800479" cy="533399"/>
          </a:xfrm>
          <a:prstGeom prst="roundRect">
            <a:avLst>
              <a:gd name="adj" fmla="val 28571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7723" y="5267324"/>
            <a:ext cx="838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subsample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57648" y="5248275"/>
            <a:ext cx="40956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Courier New"/>
                <a:rFonts ascii="Courier New" hAnsi="Courier New" eastAsia="Courier New" cs="Courier New"/>
              </a:rPr>
              <a:t>0.8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286342" y="1229053"/>
            <a:ext cx="342891" cy="26604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743531" y="1209674"/>
            <a:ext cx="315269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862F"/>
                </a:solidFill>
                <a:latin typeface="Source Code Pro"/>
                <a:rFonts ascii="Source Code Pro" hAnsi="Source Code Pro" eastAsia="Source Code Pro" cs="Source Code Pro"/>
              </a:rPr>
              <a:t>Tuned Model Performance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6342" y="1914525"/>
            <a:ext cx="5295767" cy="5143500"/>
          </a:xfrm>
          <a:prstGeom prst="roundRect">
            <a:avLst>
              <a:gd name="adj" fmla="val 4444"/>
            </a:avLst>
          </a:prstGeom>
          <a:gradFill rotWithShape="1">
            <a:gsLst>
              <a:gs pos="0">
                <a:srgbClr val="FF862F">
                  <a:alpha val="10000"/>
                </a:srgbClr>
              </a:gs>
              <a:gs pos="100000">
                <a:srgbClr val="FF862F">
                  <a:alpha val="5000"/>
                </a:srgbClr>
              </a:gs>
            </a:gsLst>
            <a:lin scaled="0" ang="8100000"/>
          </a:gradFill>
          <a:ln w="24765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543511" y="2657475"/>
            <a:ext cx="2314517" cy="1409699"/>
          </a:xfrm>
          <a:prstGeom prst="roundRect">
            <a:avLst>
              <a:gd name="adj" fmla="val 10810"/>
            </a:avLst>
          </a:prstGeom>
          <a:solidFill>
            <a:srgbClr val="FF862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4006" y="2847974"/>
            <a:ext cx="193352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4006" y="3190874"/>
            <a:ext cx="1933526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862F"/>
                </a:solidFill>
                <a:latin typeface="Source Code Pro"/>
                <a:rFonts ascii="Source Code Pro" hAnsi="Source Code Pro" eastAsia="Source Code Pro" cs="Source Code Pro"/>
              </a:rPr>
              <a:t>73.3%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19789" y="3718832"/>
            <a:ext cx="152396" cy="870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610284" y="3667124"/>
            <a:ext cx="3714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862F"/>
                </a:solidFill>
                <a:latin typeface="Roboto Flex"/>
                <a:rFonts ascii="Roboto Flex" hAnsi="Roboto Flex" eastAsia="Roboto Flex" cs="Roboto Flex"/>
              </a:rPr>
              <a:t>+0.2%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10424" y="2657475"/>
            <a:ext cx="2314517" cy="1409699"/>
          </a:xfrm>
          <a:prstGeom prst="roundRect">
            <a:avLst>
              <a:gd name="adj" fmla="val 10810"/>
            </a:avLst>
          </a:prstGeom>
          <a:solidFill>
            <a:srgbClr val="FF862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00919" y="2847974"/>
            <a:ext cx="193352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Precision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00919" y="3190874"/>
            <a:ext cx="1933526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862F"/>
                </a:solidFill>
                <a:latin typeface="Source Code Pro"/>
                <a:rFonts ascii="Source Code Pro" hAnsi="Source Code Pro" eastAsia="Source Code Pro" cs="Source Code Pro"/>
              </a:rPr>
              <a:t>74.8%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886702" y="3718832"/>
            <a:ext cx="152396" cy="8708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077198" y="3667124"/>
            <a:ext cx="3714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862F"/>
                </a:solidFill>
                <a:latin typeface="Roboto Flex"/>
                <a:rFonts ascii="Roboto Flex" hAnsi="Roboto Flex" eastAsia="Roboto Flex" cs="Roboto Flex"/>
              </a:rPr>
              <a:t>+0.2%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43511" y="4219575"/>
            <a:ext cx="2314517" cy="1409699"/>
          </a:xfrm>
          <a:prstGeom prst="roundRect">
            <a:avLst>
              <a:gd name="adj" fmla="val 10810"/>
            </a:avLst>
          </a:prstGeom>
          <a:solidFill>
            <a:srgbClr val="FF862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34006" y="4410074"/>
            <a:ext cx="193352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Recall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4006" y="4752974"/>
            <a:ext cx="1933526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862F"/>
                </a:solidFill>
                <a:latin typeface="Source Code Pro"/>
                <a:rFonts ascii="Source Code Pro" hAnsi="Source Code Pro" eastAsia="Source Code Pro" cs="Source Code Pro"/>
              </a:rPr>
              <a:t>69.4%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419789" y="5280932"/>
            <a:ext cx="152396" cy="870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610284" y="5229225"/>
            <a:ext cx="3714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862F"/>
                </a:solidFill>
                <a:latin typeface="Roboto Flex"/>
                <a:rFonts ascii="Roboto Flex" hAnsi="Roboto Flex" eastAsia="Roboto Flex" cs="Roboto Flex"/>
              </a:rPr>
              <a:t>+0.2%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10424" y="4219575"/>
            <a:ext cx="2314517" cy="1409699"/>
          </a:xfrm>
          <a:prstGeom prst="roundRect">
            <a:avLst>
              <a:gd name="adj" fmla="val 10810"/>
            </a:avLst>
          </a:prstGeom>
          <a:solidFill>
            <a:srgbClr val="FF862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00919" y="4410074"/>
            <a:ext cx="193352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F1 Score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0919" y="4752974"/>
            <a:ext cx="1933526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862F"/>
                </a:solidFill>
                <a:latin typeface="Source Code Pro"/>
                <a:rFonts ascii="Source Code Pro" hAnsi="Source Code Pro" eastAsia="Source Code Pro" cs="Source Code Pro"/>
              </a:rPr>
              <a:t>71.9%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886702" y="5280932"/>
            <a:ext cx="152396" cy="8708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10077198" y="5229225"/>
            <a:ext cx="37146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862F"/>
                </a:solidFill>
                <a:latin typeface="Roboto Flex"/>
                <a:rFonts ascii="Roboto Flex" hAnsi="Roboto Flex" eastAsia="Roboto Flex" cs="Roboto Flex"/>
              </a:rPr>
              <a:t>+0.1%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43511" y="5819775"/>
            <a:ext cx="4781430" cy="495299"/>
          </a:xfrm>
          <a:prstGeom prst="roundRect">
            <a:avLst>
              <a:gd name="adj" fmla="val 30769"/>
            </a:avLst>
          </a:prstGeom>
          <a:solidFill>
            <a:srgbClr val="FF862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134046" y="5964555"/>
            <a:ext cx="228594" cy="20573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476938" y="5934075"/>
            <a:ext cx="32574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862F"/>
                </a:solidFill>
                <a:latin typeface="Roboto Flex"/>
                <a:rFonts ascii="Roboto Flex" hAnsi="Roboto Flex" eastAsia="Roboto Flex" cs="Roboto Flex"/>
              </a:rPr>
              <a:t>Improved Model Selected for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4324241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Final Model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219200"/>
            <a:ext cx="3505112" cy="4000500"/>
          </a:xfrm>
          <a:prstGeom prst="roundRect">
            <a:avLst>
              <a:gd name="adj" fmla="val 6521"/>
            </a:avLst>
          </a:prstGeom>
          <a:solidFill>
            <a:srgbClr val="1284BA">
              <a:alpha val="5000"/>
            </a:srgbClr>
          </a:soli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9129" y="142875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1284B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52476" y="1595437"/>
            <a:ext cx="266693" cy="200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6813" y="1466849"/>
            <a:ext cx="9143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Logistic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6813" y="1733550"/>
            <a:ext cx="9143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Regression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9129" y="2114550"/>
            <a:ext cx="3086022" cy="380999"/>
          </a:xfrm>
          <a:prstGeom prst="roundRect">
            <a:avLst>
              <a:gd name="adj" fmla="val 40000"/>
            </a:avLst>
          </a:prstGeom>
          <a:solidFill>
            <a:srgbClr val="1284B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129" y="2114550"/>
            <a:ext cx="308602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✓ Strong baseline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9129" y="2609850"/>
            <a:ext cx="3086022" cy="380999"/>
          </a:xfrm>
          <a:prstGeom prst="roundRect">
            <a:avLst>
              <a:gd name="adj" fmla="val 40000"/>
            </a:avLst>
          </a:prstGeom>
          <a:solidFill>
            <a:srgbClr val="1284B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129" y="2609850"/>
            <a:ext cx="308602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✓ Interpretable coefficients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129" y="3105149"/>
            <a:ext cx="3086022" cy="380999"/>
          </a:xfrm>
          <a:prstGeom prst="roundRect">
            <a:avLst>
              <a:gd name="adj" fmla="val 40000"/>
            </a:avLst>
          </a:prstGeom>
          <a:solidFill>
            <a:srgbClr val="1284B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129" y="3105149"/>
            <a:ext cx="308602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✗ Lower recall metric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129" y="4552949"/>
            <a:ext cx="3086022" cy="457200"/>
          </a:xfrm>
          <a:prstGeom prst="roundRect">
            <a:avLst>
              <a:gd name="adj" fmla="val 33333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129" y="4552949"/>
            <a:ext cx="3086022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Accuracy: 72.4%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291" y="1219200"/>
            <a:ext cx="3505112" cy="4000500"/>
          </a:xfrm>
          <a:prstGeom prst="roundRect">
            <a:avLst>
              <a:gd name="adj" fmla="val 6521"/>
            </a:avLst>
          </a:prstGeom>
          <a:solidFill>
            <a:srgbClr val="1284BA">
              <a:alpha val="5000"/>
            </a:srgbClr>
          </a:soli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52836" y="142875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1284BA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686182" y="1582392"/>
            <a:ext cx="266693" cy="22611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00519" y="1466849"/>
            <a:ext cx="6857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Random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0519" y="1733550"/>
            <a:ext cx="6857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Forest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52836" y="2114550"/>
            <a:ext cx="3086022" cy="380999"/>
          </a:xfrm>
          <a:prstGeom prst="roundRect">
            <a:avLst>
              <a:gd name="adj" fmla="val 40000"/>
            </a:avLst>
          </a:prstGeom>
          <a:solidFill>
            <a:srgbClr val="1284B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2836" y="2114550"/>
            <a:ext cx="308602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✓ Balanced performance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52836" y="2609850"/>
            <a:ext cx="3086022" cy="380999"/>
          </a:xfrm>
          <a:prstGeom prst="roundRect">
            <a:avLst>
              <a:gd name="adj" fmla="val 40000"/>
            </a:avLst>
          </a:prstGeom>
          <a:solidFill>
            <a:srgbClr val="1284B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52836" y="2609850"/>
            <a:ext cx="308602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✓ Handles non-linear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52836" y="3105149"/>
            <a:ext cx="3086022" cy="380999"/>
          </a:xfrm>
          <a:prstGeom prst="roundRect">
            <a:avLst>
              <a:gd name="adj" fmla="val 40000"/>
            </a:avLst>
          </a:prstGeom>
          <a:solidFill>
            <a:srgbClr val="1284B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2836" y="3105149"/>
            <a:ext cx="308602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✗ Weaker overall metrics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52836" y="4552949"/>
            <a:ext cx="3086022" cy="457200"/>
          </a:xfrm>
          <a:prstGeom prst="roundRect">
            <a:avLst>
              <a:gd name="adj" fmla="val 33333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2836" y="4552949"/>
            <a:ext cx="3086022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Accuracy: 72.1%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76998" y="1219200"/>
            <a:ext cx="3505112" cy="4000500"/>
          </a:xfrm>
          <a:prstGeom prst="roundRect">
            <a:avLst>
              <a:gd name="adj" fmla="val 6521"/>
            </a:avLst>
          </a:prstGeom>
          <a:gradFill rotWithShape="1">
            <a:gsLst>
              <a:gs pos="0">
                <a:srgbClr val="FF862F">
                  <a:alpha val="12000"/>
                </a:srgbClr>
              </a:gs>
              <a:gs pos="100000">
                <a:srgbClr val="FF862F">
                  <a:alpha val="5000"/>
                </a:srgbClr>
              </a:gs>
            </a:gsLst>
            <a:lin scaled="0" ang="8100000"/>
          </a:gradFill>
          <a:ln w="24765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743931" y="1104900"/>
            <a:ext cx="962000" cy="342900"/>
          </a:xfrm>
          <a:prstGeom prst="roundRect">
            <a:avLst>
              <a:gd name="adj" fmla="val 5555000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43931" y="1104900"/>
            <a:ext cx="962000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SELECTED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96067" y="1447800"/>
            <a:ext cx="533386" cy="533399"/>
          </a:xfrm>
          <a:prstGeom prst="roundRect">
            <a:avLst>
              <a:gd name="adj" fmla="val 35710714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29414" y="1642027"/>
            <a:ext cx="266693" cy="14494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943751" y="1485900"/>
            <a:ext cx="100962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862F"/>
                </a:solidFill>
                <a:latin typeface="Source Code Pro"/>
                <a:rFonts ascii="Source Code Pro" hAnsi="Source Code Pro" eastAsia="Source Code Pro" cs="Source Code Pro"/>
              </a:rPr>
              <a:t>Gradient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43751" y="1752599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Boosting (Tuned)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96067" y="2133599"/>
            <a:ext cx="3066973" cy="380999"/>
          </a:xfrm>
          <a:prstGeom prst="roundRect">
            <a:avLst>
              <a:gd name="adj" fmla="val 40000"/>
            </a:avLst>
          </a:prstGeom>
          <a:solidFill>
            <a:srgbClr val="FF862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6067" y="2133599"/>
            <a:ext cx="306697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862F"/>
                </a:solidFill>
                <a:latin typeface="Roboto Flex"/>
                <a:rFonts ascii="Roboto Flex" hAnsi="Roboto Flex" eastAsia="Roboto Flex" cs="Roboto Flex"/>
              </a:rPr>
              <a:t>✓ Best overall performance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96067" y="2628900"/>
            <a:ext cx="3066973" cy="380999"/>
          </a:xfrm>
          <a:prstGeom prst="roundRect">
            <a:avLst>
              <a:gd name="adj" fmla="val 40000"/>
            </a:avLst>
          </a:prstGeom>
          <a:solidFill>
            <a:srgbClr val="FF862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96067" y="2628900"/>
            <a:ext cx="306697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780"/>
              </a:spcBef>
              <a:spcAft>
                <a:spcPts val="0"/>
              </a:spcAft>
            </a:pPr>
            <a:r>
              <a:rPr sz="956" b="1">
                <a:solidFill>
                  <a:srgbClr val="FF862F"/>
                </a:solidFill>
                <a:latin typeface="Roboto Flex"/>
                <a:rFonts ascii="Roboto Flex" hAnsi="Roboto Flex" eastAsia="Roboto Flex" cs="Roboto Flex"/>
              </a:rPr>
              <a:t>✓ Highest accuracy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96067" y="3124200"/>
            <a:ext cx="3066973" cy="380999"/>
          </a:xfrm>
          <a:prstGeom prst="roundRect">
            <a:avLst>
              <a:gd name="adj" fmla="val 40000"/>
            </a:avLst>
          </a:prstGeom>
          <a:solidFill>
            <a:srgbClr val="FF862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96067" y="3124200"/>
            <a:ext cx="306697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780"/>
              </a:spcBef>
              <a:spcAft>
                <a:spcPts val="0"/>
              </a:spcAft>
            </a:pPr>
            <a:r>
              <a:rPr sz="956" b="1">
                <a:solidFill>
                  <a:srgbClr val="FF862F"/>
                </a:solidFill>
                <a:latin typeface="Roboto Flex"/>
                <a:rFonts ascii="Roboto Flex" hAnsi="Roboto Flex" eastAsia="Roboto Flex" cs="Roboto Flex"/>
              </a:rPr>
              <a:t>✓ Improved with tuning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96067" y="4552949"/>
            <a:ext cx="3066973" cy="457200"/>
          </a:xfrm>
          <a:prstGeom prst="roundRect">
            <a:avLst>
              <a:gd name="adj" fmla="val 33333"/>
            </a:avLst>
          </a:prstGeom>
          <a:solidFill>
            <a:srgbClr val="FF862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96067" y="4552949"/>
            <a:ext cx="3066973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862F"/>
                </a:solidFill>
                <a:latin typeface="Roboto Flex"/>
                <a:rFonts ascii="Roboto Flex" hAnsi="Roboto Flex" eastAsia="Roboto Flex" cs="Roboto Flex"/>
              </a:rPr>
              <a:t>Accuracy: 73.3%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9584" y="5448300"/>
            <a:ext cx="10972525" cy="990599"/>
          </a:xfrm>
          <a:prstGeom prst="roundRect">
            <a:avLst>
              <a:gd name="adj" fmla="val 23076"/>
            </a:avLst>
          </a:prstGeom>
          <a:solidFill>
            <a:srgbClr val="FF862F">
              <a:alpha val="8000"/>
            </a:srgbClr>
          </a:soli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333666" y="5814646"/>
            <a:ext cx="304792" cy="25790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3790855" y="5657850"/>
            <a:ext cx="507669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862F"/>
                </a:solidFill>
                <a:latin typeface="Source Code Pro"/>
                <a:rFonts ascii="Source Code Pro" hAnsi="Source Code Pro" eastAsia="Source Code Pro" cs="Source Code Pro"/>
              </a:rPr>
              <a:t>Final Choice: Tuned Gradient Boosting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790855" y="5962650"/>
            <a:ext cx="50766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Deployed in Streamlit web application for real-time risk prediction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262" cy="6858000"/>
          </a:xfrm>
          <a:prstGeom prst="rect">
            <a:avLst/>
          </a:prstGeom>
          <a:gradFill rotWithShape="1">
            <a:gsLst>
              <a:gs pos="0">
                <a:srgbClr val="1284BA">
                  <a:alpha val="8000"/>
                </a:srgbClr>
              </a:gs>
              <a:gs pos="100000">
                <a:srgbClr val="1284BA">
                  <a:alpha val="3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33546" y="1943100"/>
            <a:ext cx="1219169" cy="1219200"/>
          </a:xfrm>
          <a:prstGeom prst="roundRect">
            <a:avLst>
              <a:gd name="adj" fmla="val 15623437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2438339" y="2342388"/>
            <a:ext cx="60958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19229" y="3467100"/>
            <a:ext cx="1847803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1040"/>
              </a:spcAft>
            </a:pPr>
            <a:r>
              <a:rPr sz="2152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Streamlit</a:t>
            </a:r>
            <a:r>
              <a:rPr sz="1104"/>
              <a:t>
</a:t>
            </a:r>
            <a:r>
              <a:rPr sz="2152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Web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0655" y="4381499"/>
            <a:ext cx="1904952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User-Friendly Interface</a:t>
            </a:r>
            <a:r>
              <a:rPr sz="1104"/>
              <a:t>
</a:t>
            </a: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Real-time Prediction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095847" y="1140069"/>
            <a:ext cx="304792" cy="2344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14937" y="1104900"/>
            <a:ext cx="150491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User Inputs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7" y="1600200"/>
            <a:ext cx="2685982" cy="380999"/>
          </a:xfrm>
          <a:prstGeom prst="roundRect">
            <a:avLst>
              <a:gd name="adj" fmla="val 40000"/>
            </a:avLst>
          </a:prstGeom>
          <a:solidFill>
            <a:srgbClr val="1284B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248243" y="1733550"/>
            <a:ext cx="152396" cy="114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76838" y="1676400"/>
            <a:ext cx="26669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96127" y="1600200"/>
            <a:ext cx="2685982" cy="380999"/>
          </a:xfrm>
          <a:prstGeom prst="roundRect">
            <a:avLst>
              <a:gd name="adj" fmla="val 40000"/>
            </a:avLst>
          </a:prstGeom>
          <a:solidFill>
            <a:srgbClr val="1284B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48523" y="1747157"/>
            <a:ext cx="152396" cy="870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277118" y="1676400"/>
            <a:ext cx="4476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Height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7" y="2095499"/>
            <a:ext cx="2685982" cy="380999"/>
          </a:xfrm>
          <a:prstGeom prst="roundRect">
            <a:avLst>
              <a:gd name="adj" fmla="val 40000"/>
            </a:avLst>
          </a:prstGeom>
          <a:solidFill>
            <a:srgbClr val="1284B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248243" y="2226128"/>
            <a:ext cx="152396" cy="11974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76838" y="2171700"/>
            <a:ext cx="4667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Weight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96127" y="2095499"/>
            <a:ext cx="2685982" cy="380999"/>
          </a:xfrm>
          <a:prstGeom prst="roundRect">
            <a:avLst>
              <a:gd name="adj" fmla="val 40000"/>
            </a:avLst>
          </a:prstGeom>
          <a:solidFill>
            <a:srgbClr val="1284B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048523" y="2224767"/>
            <a:ext cx="152396" cy="12246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277118" y="2171700"/>
            <a:ext cx="10191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Blood Pressure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847" y="2590799"/>
            <a:ext cx="2685982" cy="380999"/>
          </a:xfrm>
          <a:prstGeom prst="roundRect">
            <a:avLst>
              <a:gd name="adj" fmla="val 40000"/>
            </a:avLst>
          </a:prstGeom>
          <a:solidFill>
            <a:srgbClr val="1284B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248243" y="2715985"/>
            <a:ext cx="152396" cy="1306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76838" y="2667000"/>
            <a:ext cx="77150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Cholesterol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96127" y="2590799"/>
            <a:ext cx="2685982" cy="380999"/>
          </a:xfrm>
          <a:prstGeom prst="roundRect">
            <a:avLst>
              <a:gd name="adj" fmla="val 40000"/>
            </a:avLst>
          </a:prstGeom>
          <a:solidFill>
            <a:srgbClr val="1284B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048523" y="2715985"/>
            <a:ext cx="152396" cy="13062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77118" y="2667000"/>
            <a:ext cx="5524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Glucose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95847" y="3086100"/>
            <a:ext cx="5486262" cy="380999"/>
          </a:xfrm>
          <a:prstGeom prst="roundRect">
            <a:avLst>
              <a:gd name="adj" fmla="val 40000"/>
            </a:avLst>
          </a:prstGeom>
          <a:solidFill>
            <a:srgbClr val="1284B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248243" y="3219449"/>
            <a:ext cx="152396" cy="1143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76838" y="3162299"/>
            <a:ext cx="10953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Lifestyle Factors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095847" y="3807069"/>
            <a:ext cx="304792" cy="23446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514937" y="3771900"/>
            <a:ext cx="23335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862F"/>
                </a:solidFill>
                <a:latin typeface="Source Code Pro"/>
                <a:rFonts ascii="Source Code Pro" hAnsi="Source Code Pro" eastAsia="Source Code Pro" cs="Source Code Pro"/>
              </a:rPr>
              <a:t>Output Prediction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5847" y="4267199"/>
            <a:ext cx="5486262" cy="685800"/>
          </a:xfrm>
          <a:prstGeom prst="roundRect">
            <a:avLst>
              <a:gd name="adj" fmla="val 22222"/>
            </a:avLst>
          </a:prstGeom>
          <a:solidFill>
            <a:srgbClr val="FF862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5818987" y="45440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6324441" y="4517231"/>
            <a:ext cx="228594" cy="18573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667333" y="4381499"/>
            <a:ext cx="22002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862F"/>
                </a:solidFill>
                <a:latin typeface="Roboto Flex"/>
                <a:rFonts ascii="Roboto Flex" hAnsi="Roboto Flex" eastAsia="Roboto Flex" cs="Roboto Flex"/>
              </a:rPr>
              <a:t>High Risk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67333" y="4648200"/>
            <a:ext cx="22002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⚠️ High risk of cardiovascular disease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5847" y="5067299"/>
            <a:ext cx="5486262" cy="685800"/>
          </a:xfrm>
          <a:prstGeom prst="roundRect">
            <a:avLst>
              <a:gd name="adj" fmla="val 22222"/>
            </a:avLst>
          </a:prstGeom>
          <a:solidFill>
            <a:srgbClr val="1284B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5818987" y="53441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6324441" y="5313044"/>
            <a:ext cx="228594" cy="19430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667333" y="5181599"/>
            <a:ext cx="21049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Low Risk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67333" y="5448300"/>
            <a:ext cx="210497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✅ Low risk of cardiovascular disease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246691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Key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314450"/>
            <a:ext cx="3457488" cy="5048250"/>
          </a:xfrm>
          <a:prstGeom prst="roundRect">
            <a:avLst>
              <a:gd name="adj" fmla="val 6611"/>
            </a:avLst>
          </a:prstGeom>
          <a:gradFill rotWithShape="1">
            <a:gsLst>
              <a:gs pos="0">
                <a:srgbClr val="1284BA">
                  <a:alpha val="8000"/>
                </a:srgbClr>
              </a:gs>
              <a:gs pos="100000">
                <a:srgbClr val="1284BA">
                  <a:alpha val="3000"/>
                </a:srgbClr>
              </a:gs>
            </a:gsLst>
            <a:lin scaled="0" ang="8100000"/>
          </a:gra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952576" y="2438400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33546" y="2628900"/>
            <a:ext cx="40956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01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009624" y="3467428"/>
            <a:ext cx="342891" cy="2660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6813" y="3448049"/>
            <a:ext cx="219069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ML Effectiveness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26" y="4000500"/>
            <a:ext cx="2809804" cy="1238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Machine learning can predict cardiovascular risk with high accuracy using structured health 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1865" y="1314450"/>
            <a:ext cx="3457488" cy="5048250"/>
          </a:xfrm>
          <a:prstGeom prst="roundRect">
            <a:avLst>
              <a:gd name="adj" fmla="val 6611"/>
            </a:avLst>
          </a:prstGeom>
          <a:gradFill rotWithShape="1">
            <a:gsLst>
              <a:gs pos="0">
                <a:srgbClr val="1284BA">
                  <a:alpha val="8000"/>
                </a:srgbClr>
              </a:gs>
              <a:gs pos="100000">
                <a:srgbClr val="1284BA">
                  <a:alpha val="3000"/>
                </a:srgbClr>
              </a:gs>
            </a:gsLst>
            <a:lin scaled="0" ang="8100000"/>
          </a:gra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714857" y="2590799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86302" y="2781300"/>
            <a:ext cx="40956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02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705232" y="3661212"/>
            <a:ext cx="342891" cy="18327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62420" y="3600450"/>
            <a:ext cx="233356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Model Superiority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5707" y="4152899"/>
            <a:ext cx="2809804" cy="9334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Gradient Boosting consistently outperformed other models across all evaluation metrics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4621" y="1314450"/>
            <a:ext cx="3457488" cy="5048250"/>
          </a:xfrm>
          <a:prstGeom prst="roundRect">
            <a:avLst>
              <a:gd name="adj" fmla="val 6611"/>
            </a:avLst>
          </a:prstGeom>
          <a:gradFill rotWithShape="1">
            <a:gsLst>
              <a:gs pos="0">
                <a:srgbClr val="FF862F">
                  <a:alpha val="10000"/>
                </a:srgbClr>
              </a:gs>
              <a:gs pos="100000">
                <a:srgbClr val="FF862F">
                  <a:alpha val="5000"/>
                </a:srgbClr>
              </a:gs>
            </a:gsLst>
            <a:lin scaled="0" ang="8100000"/>
          </a:gradFill>
          <a:ln w="24765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067773" y="1181099"/>
            <a:ext cx="638159" cy="342900"/>
          </a:xfrm>
          <a:prstGeom prst="roundRect">
            <a:avLst>
              <a:gd name="adj" fmla="val 5555000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67773" y="1181099"/>
            <a:ext cx="638159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Roboto Flex"/>
                <a:rFonts ascii="Roboto Flex" hAnsi="Roboto Flex" eastAsia="Roboto Flex" cs="Roboto Flex"/>
              </a:rPr>
              <a:t>BEST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77138" y="2305049"/>
            <a:ext cx="761980" cy="761999"/>
          </a:xfrm>
          <a:prstGeom prst="roundRect">
            <a:avLst>
              <a:gd name="adj" fmla="val 24997500"/>
            </a:avLst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8583" y="2495550"/>
            <a:ext cx="409564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Source Code Pro"/>
                <a:rFonts ascii="Source Code Pro" hAnsi="Source Code Pro" eastAsia="Source Code Pro" cs="Source Code Pro"/>
              </a:rPr>
              <a:t>03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57988" y="3448214"/>
            <a:ext cx="342891" cy="30447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915177" y="3295650"/>
            <a:ext cx="2333566" cy="609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862F"/>
                </a:solidFill>
                <a:latin typeface="Source Code Pro"/>
                <a:rFonts ascii="Source Code Pro" hAnsi="Source Code Pro" eastAsia="Source Code Pro" cs="Source Code Pro"/>
              </a:rPr>
              <a:t>Optimization 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7988" y="4133849"/>
            <a:ext cx="2790755" cy="1238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Hyperparameter tuning significantly improved model performance and overall accuracy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226689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19169" y="1466849"/>
            <a:ext cx="9753356" cy="13716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1284BA">
                  <a:alpha val="5000"/>
                </a:srgbClr>
              </a:gs>
              <a:gs pos="100000">
                <a:srgbClr val="1284BA">
                  <a:alpha val="2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615919" y="2070099"/>
            <a:ext cx="13716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495387" y="1847849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1284B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647783" y="2070588"/>
            <a:ext cx="304792" cy="16412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33566" y="1695449"/>
            <a:ext cx="841036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Dataset Population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3566" y="2076449"/>
            <a:ext cx="841036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Limited to specific demographic and geographic population, potentially affecting model generalizability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9169" y="3143250"/>
            <a:ext cx="9753356" cy="13716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1284BA">
                  <a:alpha val="5000"/>
                </a:srgbClr>
              </a:gs>
              <a:gs pos="100000">
                <a:srgbClr val="1284BA">
                  <a:alpha val="2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615919" y="3746500"/>
            <a:ext cx="13716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95387" y="352425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1284B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647783" y="3720611"/>
            <a:ext cx="304792" cy="2168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33566" y="3371850"/>
            <a:ext cx="841036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Feature Scope Constraints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3566" y="3752849"/>
            <a:ext cx="841036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Features primarily clinical and lifestyle-based, lacking genetic markers and imaging data for comprehensive assessment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19169" y="4819650"/>
            <a:ext cx="9753356" cy="13716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1284BA">
                  <a:alpha val="5000"/>
                </a:srgbClr>
              </a:gs>
              <a:gs pos="100000">
                <a:srgbClr val="1284BA">
                  <a:alpha val="2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615919" y="5422900"/>
            <a:ext cx="1371600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495387" y="5200650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1284BA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647783" y="5383823"/>
            <a:ext cx="304792" cy="24325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333566" y="5048250"/>
            <a:ext cx="841036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Preprocessing Dependency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3566" y="5429250"/>
            <a:ext cx="8410364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Model performance significantly influenced by data preprocessing choices and feature engineering decisions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66674"/>
            <a:ext cx="390515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Future Improvements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914400"/>
            <a:ext cx="5371965" cy="2667000"/>
          </a:xfrm>
          <a:prstGeom prst="roundRect">
            <a:avLst>
              <a:gd name="adj" fmla="val 8571"/>
            </a:avLst>
          </a:prstGeom>
          <a:gradFill rotWithShape="1">
            <a:gsLst>
              <a:gs pos="0">
                <a:srgbClr val="1284BA">
                  <a:alpha val="8000"/>
                </a:srgbClr>
              </a:gs>
              <a:gs pos="100000">
                <a:srgbClr val="1284BA">
                  <a:alpha val="3000"/>
                </a:srgbClr>
              </a:gs>
            </a:gsLst>
            <a:lin scaled="0" ang="8100000"/>
          </a:gra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7228" y="11620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971525" y="1293495"/>
            <a:ext cx="228594" cy="1943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28714" y="1162050"/>
            <a:ext cx="55243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348" y="1352549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Diverse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28" y="1771650"/>
            <a:ext cx="4876678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1076" b="0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•</a:t>
            </a: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Family history integration</a:t>
            </a: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28" y="2114550"/>
            <a:ext cx="4876678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1076" b="0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•</a:t>
            </a: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Genetic markers addition</a:t>
            </a: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28" y="2457450"/>
            <a:ext cx="4876678" cy="266699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1076" b="0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•</a:t>
            </a: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 </a:t>
            </a: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Comprehensive lab results</a:t>
            </a:r>
            <a:r>
              <a:rPr sz="107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4" y="914400"/>
            <a:ext cx="5371965" cy="2667000"/>
          </a:xfrm>
          <a:prstGeom prst="roundRect">
            <a:avLst>
              <a:gd name="adj" fmla="val 8571"/>
            </a:avLst>
          </a:prstGeom>
          <a:gradFill rotWithShape="1">
            <a:gsLst>
              <a:gs pos="0">
                <a:srgbClr val="1284BA">
                  <a:alpha val="8000"/>
                </a:srgbClr>
              </a:gs>
              <a:gs pos="100000">
                <a:srgbClr val="1284BA">
                  <a:alpha val="3000"/>
                </a:srgbClr>
              </a:gs>
            </a:gsLst>
            <a:lin scaled="0" ang="8100000"/>
          </a:gra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57788" y="11620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572085" y="1302067"/>
            <a:ext cx="228594" cy="1771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29274" y="1162050"/>
            <a:ext cx="55243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57908" y="1352549"/>
            <a:ext cx="148586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Deep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7788" y="1771650"/>
            <a:ext cx="4876678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Explore advanced neural networks for capturing complex non-linear patterns in cardiovascular 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3809999"/>
            <a:ext cx="5371965" cy="2667000"/>
          </a:xfrm>
          <a:prstGeom prst="roundRect">
            <a:avLst>
              <a:gd name="adj" fmla="val 8571"/>
            </a:avLst>
          </a:prstGeom>
          <a:gradFill rotWithShape="1">
            <a:gsLst>
              <a:gs pos="0">
                <a:srgbClr val="1284BA">
                  <a:alpha val="8000"/>
                </a:srgbClr>
              </a:gs>
              <a:gs pos="100000">
                <a:srgbClr val="1284BA">
                  <a:alpha val="3000"/>
                </a:srgbClr>
              </a:gs>
            </a:gsLst>
            <a:lin scaled="0" ang="8100000"/>
          </a:gra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7228" y="40576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71525" y="4209097"/>
            <a:ext cx="228594" cy="1543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28714" y="4057650"/>
            <a:ext cx="55243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348" y="4248150"/>
            <a:ext cx="16001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Explainability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228" y="4667249"/>
            <a:ext cx="4876678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Integrate SHAP values and LIME to enhance model interpretability for medical professionals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0144" y="3809999"/>
            <a:ext cx="5371965" cy="2667000"/>
          </a:xfrm>
          <a:prstGeom prst="roundRect">
            <a:avLst>
              <a:gd name="adj" fmla="val 8571"/>
            </a:avLst>
          </a:prstGeom>
          <a:gradFill rotWithShape="1">
            <a:gsLst>
              <a:gs pos="0">
                <a:srgbClr val="1284BA">
                  <a:alpha val="8000"/>
                </a:srgbClr>
              </a:gs>
              <a:gs pos="100000">
                <a:srgbClr val="1284BA">
                  <a:alpha val="3000"/>
                </a:srgbClr>
              </a:gs>
            </a:gsLst>
            <a:lin scaled="0" ang="8100000"/>
          </a:gra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57788" y="4057650"/>
            <a:ext cx="457188" cy="457200"/>
          </a:xfrm>
          <a:prstGeom prst="roundRect">
            <a:avLst>
              <a:gd name="adj" fmla="val 41662500"/>
            </a:avLst>
          </a:prstGeom>
          <a:solidFill>
            <a:srgbClr val="1284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72085" y="4189095"/>
            <a:ext cx="228594" cy="19430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29274" y="4057650"/>
            <a:ext cx="552436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2870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7908" y="4248150"/>
            <a:ext cx="17144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Real 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7788" y="4667249"/>
            <a:ext cx="4876678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Deploy in actual healthcare environments with continuous monitoring and feedback loops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284BA"/>
              </a:gs>
              <a:gs pos="50000">
                <a:srgbClr val="FF862F"/>
              </a:gs>
              <a:gs pos="100000">
                <a:srgbClr val="1284B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284BA"/>
              </a:gs>
              <a:gs pos="50000">
                <a:srgbClr val="FF862F"/>
              </a:gs>
              <a:gs pos="100000">
                <a:srgbClr val="1284B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565" y="723900"/>
            <a:ext cx="9448563" cy="11430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900"/>
              </a:lnSpc>
              <a:spcBef>
                <a:spcPts val="0"/>
              </a:spcBef>
              <a:spcAft>
                <a:spcPts val="4160"/>
              </a:spcAft>
            </a:pPr>
            <a:r>
              <a:rPr sz="3588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Complete ML Pipeline Demonstrated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57388" y="2476499"/>
            <a:ext cx="2133546" cy="495299"/>
          </a:xfrm>
          <a:prstGeom prst="roundRect">
            <a:avLst>
              <a:gd name="adj" fmla="val 30769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2647883" y="2636996"/>
            <a:ext cx="228594" cy="1743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52676" y="2590799"/>
            <a:ext cx="14477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Data Exploration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752856" y="2622096"/>
            <a:ext cx="285742" cy="20410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190995" y="2476499"/>
            <a:ext cx="1943051" cy="495299"/>
          </a:xfrm>
          <a:prstGeom prst="roundRect">
            <a:avLst>
              <a:gd name="adj" fmla="val 30769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381490" y="2614136"/>
            <a:ext cx="228594" cy="2200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86282" y="2590799"/>
            <a:ext cx="12572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Preprocessing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286442" y="2622096"/>
            <a:ext cx="285742" cy="20410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724581" y="2476499"/>
            <a:ext cx="2009724" cy="495299"/>
          </a:xfrm>
          <a:prstGeom prst="roundRect">
            <a:avLst>
              <a:gd name="adj" fmla="val 30769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915077" y="2635567"/>
            <a:ext cx="228594" cy="1771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19869" y="2590799"/>
            <a:ext cx="13239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Model Building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90795" y="3581400"/>
            <a:ext cx="1600159" cy="495299"/>
          </a:xfrm>
          <a:prstGeom prst="roundRect">
            <a:avLst>
              <a:gd name="adj" fmla="val 30769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381290" y="3740467"/>
            <a:ext cx="228594" cy="1771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86082" y="3695699"/>
            <a:ext cx="9143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Evaluation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943351" y="3726996"/>
            <a:ext cx="285742" cy="204107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5381490" y="3581400"/>
            <a:ext cx="1285842" cy="495299"/>
          </a:xfrm>
          <a:prstGeom prst="roundRect">
            <a:avLst>
              <a:gd name="adj" fmla="val 30769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571985" y="3740467"/>
            <a:ext cx="228594" cy="1771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876778" y="3695699"/>
            <a:ext cx="6000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Tuning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819729" y="3726996"/>
            <a:ext cx="285742" cy="204107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7257868" y="3581400"/>
            <a:ext cx="1743031" cy="495299"/>
          </a:xfrm>
          <a:prstGeom prst="roundRect">
            <a:avLst>
              <a:gd name="adj" fmla="val 30769"/>
            </a:avLst>
          </a:prstGeom>
          <a:solidFill>
            <a:srgbClr val="1284BA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7448363" y="3746182"/>
            <a:ext cx="228594" cy="16573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753156" y="3695699"/>
            <a:ext cx="10572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Deployment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28754" y="4686300"/>
            <a:ext cx="4114697" cy="14478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1284BA">
                  <a:alpha val="8000"/>
                </a:srgbClr>
              </a:gs>
              <a:gs pos="100000">
                <a:srgbClr val="1284BA">
                  <a:alpha val="3000"/>
                </a:srgbClr>
              </a:gs>
            </a:gsLst>
            <a:lin scaled="0" ang="8100000"/>
          </a:gradFill>
          <a:ln w="16510">
            <a:solidFill>
              <a:srgbClr val="128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2076398" y="4973292"/>
            <a:ext cx="266693" cy="22611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457388" y="4933950"/>
            <a:ext cx="150491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Final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76398" y="5353049"/>
            <a:ext cx="361940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Tuned Gradient Boosting selected with 73.3% accuracy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48243" y="4686300"/>
            <a:ext cx="4114697" cy="1447800"/>
          </a:xfrm>
          <a:prstGeom prst="roundRect">
            <a:avLst>
              <a:gd name="adj" fmla="val 15789"/>
            </a:avLst>
          </a:prstGeom>
          <a:gradFill rotWithShape="1">
            <a:gsLst>
              <a:gs pos="0">
                <a:srgbClr val="FF862F">
                  <a:alpha val="10000"/>
                </a:srgbClr>
              </a:gs>
              <a:gs pos="100000">
                <a:srgbClr val="FF862F">
                  <a:alpha val="5000"/>
                </a:srgbClr>
              </a:gs>
            </a:gsLst>
            <a:lin scaled="0" ang="8100000"/>
          </a:gradFill>
          <a:ln w="16510">
            <a:solidFill>
              <a:srgbClr val="FF8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495887" y="4973292"/>
            <a:ext cx="266693" cy="22611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76878" y="4933950"/>
            <a:ext cx="1781130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862F"/>
                </a:solidFill>
                <a:latin typeface="Source Code Pro"/>
                <a:rFonts ascii="Source Code Pro" hAnsi="Source Code Pro" eastAsia="Source Code Pro" cs="Source Code Pro"/>
              </a:rPr>
              <a:t>AI Healthcare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5887" y="5353049"/>
            <a:ext cx="3619409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Demonstrates potential of AI in healthcare risk prediction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1284BA"/>
              </a:gs>
              <a:gs pos="50000">
                <a:srgbClr val="FF862F"/>
              </a:gs>
              <a:gs pos="100000">
                <a:srgbClr val="1284B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1284BA"/>
              </a:gs>
              <a:gs pos="50000">
                <a:srgbClr val="FF862F"/>
              </a:gs>
              <a:gs pos="100000">
                <a:srgbClr val="1284BA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714857" y="1762432"/>
            <a:ext cx="761980" cy="5899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248043" y="2819399"/>
            <a:ext cx="3705132" cy="685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2080"/>
              </a:spcAft>
            </a:pPr>
            <a:r>
              <a:rPr sz="4305" b="1">
                <a:solidFill>
                  <a:srgbClr val="1284BA"/>
                </a:solidFill>
                <a:latin typeface="Source Code Pro"/>
                <a:rFonts ascii="Source Code Pro" hAnsi="Source Code Pro" eastAsia="Source Code Pro" cs="Source Code Pro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4876678" y="3809999"/>
            <a:ext cx="2438339" cy="38100"/>
          </a:xfrm>
          <a:prstGeom prst="rect">
            <a:avLst/>
          </a:prstGeom>
          <a:solidFill>
            <a:srgbClr val="FF8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48043" y="4152899"/>
            <a:ext cx="370513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1560"/>
              </a:spcAft>
            </a:pPr>
            <a:r>
              <a:rPr sz="1435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Questions &amp; Discussion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591035" y="4965382"/>
            <a:ext cx="228594" cy="1657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33926" y="4914900"/>
            <a:ext cx="6572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1284BA"/>
                </a:solidFill>
                <a:latin typeface="Roboto Flex"/>
                <a:rFonts ascii="Roboto Flex" hAnsi="Roboto Flex" eastAsia="Roboto Flex" cs="Roboto Flex"/>
              </a:rPr>
              <a:t>Youssef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09550"/>
            <a:ext cx="3705132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44B54B"/>
                </a:solidFill>
                <a:latin typeface="Source Code Pro"/>
                <a:rFonts ascii="Source Code Pro" hAnsi="Source Code Pro" eastAsia="Source Code Pro" cs="Source Code Pro"/>
              </a:rPr>
              <a:t>Problem Definition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609584" y="2591414"/>
            <a:ext cx="761980" cy="6083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584" y="3648074"/>
            <a:ext cx="420994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1560"/>
              </a:spcAft>
            </a:pPr>
            <a:r>
              <a:rPr sz="1794" b="1">
                <a:solidFill>
                  <a:srgbClr val="333333"/>
                </a:solidFill>
                <a:latin typeface="Roboto Flex"/>
                <a:rFonts ascii="Roboto Flex" hAnsi="Roboto Flex" eastAsia="Roboto Flex" cs="Roboto Flex"/>
              </a:rPr>
              <a:t>Global Health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4219575"/>
            <a:ext cx="4209944" cy="9334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666666"/>
                </a:solidFill>
                <a:latin typeface="Roboto Flex"/>
                <a:rFonts ascii="Roboto Flex" hAnsi="Roboto Flex" eastAsia="Roboto Flex" cs="Roboto Flex"/>
              </a:rPr>
              <a:t>Cardiovascular disease remains one of the leading causes of mortality worldwide, affecting millions annually.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76718" y="2600325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44B54B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429114" y="2776171"/>
            <a:ext cx="304792" cy="25790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14897" y="2600325"/>
            <a:ext cx="546721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44B54B"/>
                </a:solidFill>
                <a:latin typeface="Source Code Pro"/>
                <a:rFonts ascii="Source Code Pro" hAnsi="Source Code Pro" eastAsia="Source Code Pro" cs="Source Code Pro"/>
              </a:rPr>
              <a:t>Early Detection Saves Lives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4897" y="2981325"/>
            <a:ext cx="5467213" cy="838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Roboto Flex"/>
                <a:rFonts ascii="Roboto Flex" hAnsi="Roboto Flex" eastAsia="Roboto Flex" cs="Roboto Flex"/>
              </a:rPr>
              <a:t>Timely identification of high-risk individuals enables preventive measures, significantly improving patient outcomes and reducing healthcare costs.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76718" y="4124324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1399FF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429114" y="4316290"/>
            <a:ext cx="304792" cy="22566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14897" y="4124324"/>
            <a:ext cx="5467213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1399FF"/>
                </a:solidFill>
                <a:latin typeface="Source Code Pro"/>
                <a:rFonts ascii="Source Code Pro" hAnsi="Source Code Pro" eastAsia="Source Code Pro" cs="Source Code Pro"/>
              </a:rPr>
              <a:t>Our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4897" y="4505325"/>
            <a:ext cx="5467213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Roboto Flex"/>
                <a:rFonts ascii="Roboto Flex" hAnsi="Roboto Flex" eastAsia="Roboto Flex" cs="Roboto Flex"/>
              </a:rPr>
              <a:t>Build predictive machine learning models to support doctors with faster, data-driven decisions for cardiovascular risk assessment.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{"Label":"1","ContentProducer":"001191110108MA01KP2T5U00000","ProduceID":"d7c21f396f422df93eb1000bc8eecbce","ReservedCode1":"","ContentPropagator":"001191110108MA01KP2T5U00000","PropagateID":"d7c21f396f422df93eb1000bc8eecbce","ReservedCode2":""}</vt:lpwstr>
  </property>
</Properties>
</file>